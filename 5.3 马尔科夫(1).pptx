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339" r:id="rId3"/>
    <p:sldId id="354" r:id="rId5"/>
    <p:sldId id="329" r:id="rId6"/>
    <p:sldId id="340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71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  <p:cmAuthor id="11" name="l" initials="l" lastIdx="2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6" d="100"/>
          <a:sy n="16" d="100"/>
        </p:scale>
        <p:origin x="29" y="58"/>
      </p:cViewPr>
      <p:guideLst>
        <p:guide orient="horz" pos="222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50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1" dt="2025-10-19T23:21:26.911" idx="1">
    <p:pos x="10" y="10"/>
    <p:text/>
  </p:cm>
  <p:cm authorId="11" dt="2025-10-19T23:21:40.830" idx="2">
    <p:pos x="166" y="166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image" Target="../media/image2.png"/><Relationship Id="rId1" Type="http://schemas.openxmlformats.org/officeDocument/2006/relationships/tags" Target="../tags/tag11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image" Target="../media/image9.png"/><Relationship Id="rId3" Type="http://schemas.openxmlformats.org/officeDocument/2006/relationships/tags" Target="../tags/tag120.xml"/><Relationship Id="rId2" Type="http://schemas.openxmlformats.org/officeDocument/2006/relationships/image" Target="../media/image8.png"/><Relationship Id="rId1" Type="http://schemas.openxmlformats.org/officeDocument/2006/relationships/tags" Target="../tags/tag11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13.png"/><Relationship Id="rId7" Type="http://schemas.openxmlformats.org/officeDocument/2006/relationships/tags" Target="../tags/tag125.xml"/><Relationship Id="rId6" Type="http://schemas.openxmlformats.org/officeDocument/2006/relationships/image" Target="../media/image12.png"/><Relationship Id="rId5" Type="http://schemas.openxmlformats.org/officeDocument/2006/relationships/tags" Target="../tags/tag124.xml"/><Relationship Id="rId4" Type="http://schemas.openxmlformats.org/officeDocument/2006/relationships/image" Target="../media/image11.png"/><Relationship Id="rId3" Type="http://schemas.openxmlformats.org/officeDocument/2006/relationships/tags" Target="../tags/tag123.xml"/><Relationship Id="rId2" Type="http://schemas.openxmlformats.org/officeDocument/2006/relationships/image" Target="../media/image10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27.xml"/><Relationship Id="rId10" Type="http://schemas.openxmlformats.org/officeDocument/2006/relationships/image" Target="../media/image14.png"/><Relationship Id="rId1" Type="http://schemas.openxmlformats.org/officeDocument/2006/relationships/tags" Target="../tags/tag12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4" Type="http://schemas.openxmlformats.org/officeDocument/2006/relationships/image" Target="../media/image16.png"/><Relationship Id="rId3" Type="http://schemas.openxmlformats.org/officeDocument/2006/relationships/tags" Target="../tags/tag132.xml"/><Relationship Id="rId2" Type="http://schemas.openxmlformats.org/officeDocument/2006/relationships/image" Target="../media/image15.png"/><Relationship Id="rId1" Type="http://schemas.openxmlformats.org/officeDocument/2006/relationships/tags" Target="../tags/tag13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image" Target="../media/image17.png"/><Relationship Id="rId1" Type="http://schemas.openxmlformats.org/officeDocument/2006/relationships/tags" Target="../tags/tag13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40.xml"/><Relationship Id="rId7" Type="http://schemas.openxmlformats.org/officeDocument/2006/relationships/image" Target="../media/image20.png"/><Relationship Id="rId6" Type="http://schemas.openxmlformats.org/officeDocument/2006/relationships/tags" Target="../tags/tag139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Relationship Id="rId3" Type="http://schemas.openxmlformats.org/officeDocument/2006/relationships/tags" Target="../tags/tag138.xml"/><Relationship Id="rId2" Type="http://schemas.openxmlformats.org/officeDocument/2006/relationships/image" Target="../media/image18.png"/><Relationship Id="rId10" Type="http://schemas.openxmlformats.org/officeDocument/2006/relationships/vmlDrawing" Target="../drawings/vmlDrawing1.vml"/><Relationship Id="rId1" Type="http://schemas.openxmlformats.org/officeDocument/2006/relationships/tags" Target="../tags/tag13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4.xml"/><Relationship Id="rId6" Type="http://schemas.openxmlformats.org/officeDocument/2006/relationships/image" Target="../media/image23.png"/><Relationship Id="rId5" Type="http://schemas.openxmlformats.org/officeDocument/2006/relationships/tags" Target="../tags/tag143.xml"/><Relationship Id="rId4" Type="http://schemas.openxmlformats.org/officeDocument/2006/relationships/image" Target="../media/image22.png"/><Relationship Id="rId3" Type="http://schemas.openxmlformats.org/officeDocument/2006/relationships/tags" Target="../tags/tag142.xml"/><Relationship Id="rId2" Type="http://schemas.openxmlformats.org/officeDocument/2006/relationships/image" Target="../media/image21.png"/><Relationship Id="rId1" Type="http://schemas.openxmlformats.org/officeDocument/2006/relationships/tags" Target="../tags/tag14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image" Target="../media/image24.png"/><Relationship Id="rId1" Type="http://schemas.openxmlformats.org/officeDocument/2006/relationships/tags" Target="../tags/tag1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2273299" y="4275976"/>
            <a:ext cx="7589519" cy="656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汇报人：杨欣瑶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刘怡序</a:t>
            </a:r>
            <a:r>
              <a:rPr lang="en-US" altLang="zh-CN" dirty="0"/>
              <a:t>   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4023995" y="3331210"/>
            <a:ext cx="7705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5.3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基于马尔科夫链的旅客运输市场占有率评价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01</a:t>
            </a:r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43980" y="2162810"/>
            <a:ext cx="5005070" cy="168402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核心问题，研究目标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核心问题：综合交通运输市场中，旅客出行方式选择复杂，需要揭示市场构成因素及数理内涵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目标：通过对铁路运输、公路运输、水路运输和航空运输等多种运输方式，旅客流动变化的趋势和规律进行分析，采用马尔科夫分析法对交通运输市场的旅客流动变化进行科学预测，为交通运输部门调整运输营销策略提供决策依据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2</a:t>
            </a:r>
            <a:endParaRPr dirty="0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43980" y="2162810"/>
            <a:ext cx="5005070" cy="1684020"/>
          </a:xfrm>
        </p:spPr>
        <p:txBody>
          <a:bodyPr>
            <a:normAutofit/>
          </a:bodyPr>
          <a:lstStyle/>
          <a:p>
            <a:r>
              <a:rPr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马尔科夫分析法核心定义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580390" y="179705"/>
            <a:ext cx="10800080" cy="4931410"/>
          </a:xfrm>
        </p:spPr>
        <p:txBody>
          <a:bodyPr/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一步状态转移概率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0390" y="579120"/>
            <a:ext cx="6891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定义：</a:t>
            </a:r>
            <a:r>
              <a:rPr lang="zh-CN" altLang="en-US"/>
              <a:t>在t时刻系统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Xt</a:t>
            </a:r>
            <a:r>
              <a:rPr lang="zh-CN" altLang="en-US"/>
              <a:t>从状态i转移到下一时刻状态j的条件概率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0390" y="10166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符号表示</a:t>
            </a:r>
            <a:r>
              <a:rPr lang="zh-CN" altLang="en-US"/>
              <a:t>：记作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zh-CN" altLang="en-US"/>
              <a:t>(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t+</a:t>
            </a:r>
            <a:r>
              <a:rPr lang="zh-CN" altLang="en-US" baseline="-25000"/>
              <a:t>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=j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|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=i</a:t>
            </a:r>
            <a:r>
              <a:rPr lang="zh-CN" altLang="en-US"/>
              <a:t>)，简写为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endParaRPr lang="zh-CN" altLang="en-US"/>
          </a:p>
          <a:p>
            <a:r>
              <a:rPr lang="zh-CN" altLang="en-US"/>
              <a:t>​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0390" y="1449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数学表达式</a:t>
            </a:r>
            <a:r>
              <a:rPr lang="zh-CN" altLang="en-US"/>
              <a:t>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=P(X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t+1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=j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|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=i)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8175" y="20967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2.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k步状态转移概率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8175" y="2535555"/>
            <a:ext cx="67945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定义：在t时刻系统Xt从状态i转移到t+k时刻状态j的条件概率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38175" y="29514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符号表示：记作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P(X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t+k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=j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|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 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=i)</a:t>
            </a:r>
            <a:r>
              <a:rPr lang="zh-CN" altLang="en-US"/>
              <a:t>，简写为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 baseline="30000">
                <a:latin typeface="Times New Roman" panose="02020603050405020304" charset="0"/>
                <a:cs typeface="Times New Roman" panose="02020603050405020304" charset="0"/>
              </a:rPr>
              <a:t>(k)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​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8175" y="3354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数学表达式：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(k)=P(X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t+k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=j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|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=i)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8175" y="3989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概率约束条件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8175" y="435737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所有转移概率非负</a:t>
            </a:r>
            <a:r>
              <a:rPr lang="zh-CN" altLang="en-US"/>
              <a:t>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0≤P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≤1，0≤P 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 baseline="30000">
                <a:latin typeface="Times New Roman" panose="02020603050405020304" charset="0"/>
                <a:cs typeface="Times New Roman" panose="02020603050405020304" charset="0"/>
              </a:rPr>
              <a:t>(k)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≤1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38175" y="4768850"/>
                <a:ext cx="9189085" cy="4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每行转移概率和为</a:t>
                </a:r>
                <a:r>
                  <a:rPr lang="zh-CN" altLang="en-US"/>
                  <a:t>1：对任意状态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i</a:t>
                </a:r>
                <a:r>
                  <a:rPr lang="zh-CN" altLang="en-US"/>
                  <a:t>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𝑖𝑗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altLang="zh-CN" i="1" baseline="-2500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i="1" baseline="-25000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e>
                        </m:nary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𝑖𝑗</m:t>
                        </m:r>
                        <m:r>
                          <a:rPr lang="en-US" altLang="zh-CN" i="1" baseline="30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 baseline="30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 baseline="30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e>
                    </m:nary>
                  </m:oMath>
                </a14:m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" y="4768850"/>
                <a:ext cx="9189085" cy="430530"/>
              </a:xfrm>
              <a:prstGeom prst="rect">
                <a:avLst/>
              </a:prstGeom>
              <a:blipFill rotWithShape="1">
                <a:blip r:embed="rId1"/>
                <a:stretch>
                  <a:fillRect t="-2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3</a:t>
            </a:r>
            <a:endParaRPr dirty="0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43980" y="2162810"/>
            <a:ext cx="5005070" cy="1684020"/>
          </a:xfrm>
        </p:spPr>
        <p:txBody>
          <a:bodyPr>
            <a:normAutofit/>
          </a:bodyPr>
          <a:lstStyle/>
          <a:p>
            <a:r>
              <a:rPr sz="2400" dirty="0">
                <a:sym typeface="+mn-ea"/>
              </a:rPr>
              <a:t>马尔科夫分析法关键</a:t>
            </a:r>
            <a:r>
              <a:rPr sz="2400" dirty="0">
                <a:sym typeface="+mn-ea"/>
              </a:rPr>
              <a:t>概念</a:t>
            </a:r>
            <a:endParaRPr sz="2400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484505" y="321310"/>
            <a:ext cx="10800080" cy="103124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1.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k步转移矩阵</a:t>
            </a:r>
            <a:endParaRPr lang="zh-CN" altLang="en-US"/>
          </a:p>
          <a:p>
            <a:pPr marL="0" indent="0">
              <a:buNone/>
            </a:pPr>
            <a:endParaRPr lang="zh-CN" altLang="en-US" baseline="30000"/>
          </a:p>
        </p:txBody>
      </p:sp>
      <p:sp>
        <p:nvSpPr>
          <p:cNvPr id="7" name="文本框 6"/>
          <p:cNvSpPr txBox="1"/>
          <p:nvPr/>
        </p:nvSpPr>
        <p:spPr>
          <a:xfrm>
            <a:off x="484505" y="911860"/>
            <a:ext cx="8252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定义：系统含n个状态时，由所有k步转移概率P</a:t>
            </a:r>
            <a:r>
              <a:rPr lang="zh-CN" altLang="en-US" baseline="-25000">
                <a:sym typeface="+mn-ea"/>
              </a:rPr>
              <a:t>ij</a:t>
            </a:r>
            <a:r>
              <a:rPr lang="zh-CN" altLang="en-US" baseline="30000">
                <a:sym typeface="+mn-ea"/>
              </a:rPr>
              <a:t>(k)</a:t>
            </a:r>
            <a:r>
              <a:rPr lang="zh-CN" altLang="en-US">
                <a:sym typeface="+mn-ea"/>
              </a:rPr>
              <a:t>构成的n×n矩阵，记为P</a:t>
            </a:r>
            <a:r>
              <a:rPr lang="zh-CN" altLang="en-US" baseline="30000">
                <a:sym typeface="+mn-ea"/>
              </a:rPr>
              <a:t>(k)</a:t>
            </a:r>
            <a:endParaRPr lang="zh-CN" altLang="en-US" baseline="300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4505" y="1536700"/>
            <a:ext cx="87395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矩阵形式：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 =</a:t>
            </a:r>
            <a:r>
              <a:rPr lang="en-US" altLang="zh-CN"/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88210" y="1390650"/>
            <a:ext cx="1700530" cy="8870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4505" y="23882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特殊形式：一步转移矩阵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（k=1）</a:t>
            </a:r>
            <a:r>
              <a:rPr lang="zh-CN" altLang="en-US"/>
              <a:t>，直接记为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4505" y="30073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2.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正规概率矩阵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2130" y="3525520"/>
            <a:ext cx="9899650" cy="626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定义：存在正整数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/>
              <a:t>，使得矩阵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altLang="zh-CN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 baseline="30000">
                <a:latin typeface="Times New Roman" panose="02020603050405020304" charset="0"/>
                <a:cs typeface="Times New Roman" panose="02020603050405020304" charset="0"/>
              </a:rPr>
              <a:t>(m)</a:t>
            </a:r>
            <a:r>
              <a:rPr lang="zh-CN" altLang="en-US"/>
              <a:t>中所有元素均大于0（即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zh-CN" altLang="en-US" baseline="-25000">
                <a:latin typeface="Times New Roman" panose="02020603050405020304" charset="0"/>
                <a:cs typeface="Times New Roman" panose="02020603050405020304" charset="0"/>
              </a:rPr>
              <a:t>ij</a:t>
            </a:r>
            <a:r>
              <a:rPr lang="zh-CN" altLang="en-US" baseline="30000">
                <a:latin typeface="Times New Roman" panose="02020603050405020304" charset="0"/>
                <a:cs typeface="Times New Roman" panose="02020603050405020304" charset="0"/>
              </a:rPr>
              <a:t>(m)</a:t>
            </a:r>
            <a:r>
              <a:rPr lang="zh-CN" altLang="en-US"/>
              <a:t>&gt;0对所有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i,j</a:t>
            </a:r>
            <a:r>
              <a:rPr lang="zh-CN" altLang="en-US"/>
              <a:t>成立）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32130" y="3989705"/>
            <a:ext cx="8206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意义：保证系统长期演化后能达到稳定状态，是后续计算平衡向量的前提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40715" y="5886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3.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状态概率向量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40715" y="1070610"/>
                <a:ext cx="10857865" cy="655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定义：若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为系统在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𝑡</m:t>
                    </m:r>
                    <m:r>
                      <a:rPr lang="zh-CN" altLang="en-US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时刻处于状态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𝑖</m:t>
                    </m:r>
                    <m:r>
                      <a:rPr lang="zh-CN" altLang="en-US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的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概率（即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=p</a:t>
                </a:r>
                <a:r>
                  <a:rPr lang="zh-CN" altLang="en-US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（</a:t>
                </a:r>
                <a:r>
                  <a:rPr lang="en-US" altLang="zh-CN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x</a:t>
                </a:r>
                <a:r>
                  <a:rPr lang="en-US" altLang="zh-CN" baseline="-2500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t</a:t>
                </a:r>
                <a:r>
                  <a:rPr lang="en-US" altLang="zh-CN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=i</a:t>
                </a:r>
                <a:r>
                  <a:rPr lang="zh-CN" altLang="en-US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）），则</a:t>
                </a:r>
                <a:r>
                  <a:rPr lang="en-US" altLang="zh-CN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t</a:t>
                </a:r>
                <a:r>
                  <a:rPr lang="zh-CN" altLang="en-US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时刻状态概率向量为：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</m:oMath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[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baseline="-250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(t),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baseline="-250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2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(t),...,π</a:t>
                </a:r>
                <a:r>
                  <a:rPr lang="en-US" altLang="zh-CN" baseline="-25000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n</a:t>
                </a:r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(t)]</a:t>
                </a:r>
                <a:endParaRPr lang="zh-CN" altLang="en-US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15" y="1070610"/>
                <a:ext cx="10857865" cy="6553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40715" y="1896745"/>
                <a:ext cx="750062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/>
                  <a:t>初始状态向量</a:t>
                </a:r>
                <a:r>
                  <a:rPr lang="en-US" altLang="zh-CN"/>
                  <a:t>:</a:t>
                </a:r>
                <a:r>
                  <a:rPr lang="zh-CN" altLang="en-US"/>
                  <a:t>t=0时的状态概率向量，记为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)=[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),</m:t>
                    </m:r>
                  </m:oMath>
                </a14:m>
                <a:r>
                  <a:rPr lang="en-US" altLang="zh-CN" dirty="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...,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𝜋</m:t>
                    </m:r>
                    <m:r>
                      <a:rPr lang="en-US" altLang="zh-CN" i="1" baseline="-250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)]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15" y="1896745"/>
                <a:ext cx="750062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77545" y="2435860"/>
                <a:ext cx="1151445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/>
                  <a:t>递推关系（核心公式）：由马尔科夫链性质及全概率公式推导，t时刻向量与t−1时刻向量满足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45" y="2435860"/>
                <a:ext cx="11514455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77545" y="31102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4.</a:t>
            </a:r>
            <a:r>
              <a:rPr lang="zh-CN" altLang="en-US"/>
              <a:t>平衡向量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30250" y="3617595"/>
                <a:ext cx="889317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/>
                  <a:t>定义：存在非零行向量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zh-CN" altLang="en-US"/>
                  <a:t>，满足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</m:oMath>
                </a14:m>
                <a:r>
                  <a:rPr lang="zh-CN" altLang="en-US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zh-CN" altLang="en-US"/>
                  <a:t>（即向量与转移矩阵相乘后保持不变）</a:t>
                </a:r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0" y="3617595"/>
                <a:ext cx="8893175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30250" y="4213860"/>
                <a:ext cx="9599930" cy="6972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/>
                  <a:t>固有概率向量：若平衡向量进一步满足归一化条件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zh-CN" altLang="en-US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zh-CN" altLang="en-US"/>
                  <a:t>称为状态下的固有概率向量，对应系统长期稳定后的状态分布</a:t>
                </a:r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0" y="4213860"/>
                <a:ext cx="9599930" cy="6972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4</a:t>
            </a:r>
            <a:endParaRPr dirty="0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43980" y="2162810"/>
            <a:ext cx="5005070" cy="1684020"/>
          </a:xfrm>
        </p:spPr>
        <p:txBody>
          <a:bodyPr>
            <a:normAutofit/>
          </a:bodyPr>
          <a:lstStyle/>
          <a:p>
            <a:r>
              <a:rPr sz="2400" dirty="0">
                <a:sym typeface="+mn-ea"/>
              </a:rPr>
              <a:t>马尔科夫分析法</a:t>
            </a:r>
            <a:r>
              <a:rPr sz="2400" dirty="0">
                <a:sym typeface="+mn-ea"/>
              </a:rPr>
              <a:t>应用</a:t>
            </a:r>
            <a:endParaRPr sz="2400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35000" y="37020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ym typeface="+mn-ea"/>
              </a:rPr>
              <a:t>应用马尔科夫分析法建模预测可以分为以下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个步骤。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）选定预测的市场对象，进行市场调研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10471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）建立状态转移矩阵</a:t>
            </a:r>
            <a:endParaRPr lang="zh-CN" altLang="en-US" dirty="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7045" y="1414780"/>
            <a:ext cx="8877300" cy="16808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8355" y="3094990"/>
            <a:ext cx="8040370" cy="36474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59410" y="146685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304800" algn="just">
              <a:lnSpc>
                <a:spcPct val="150000"/>
              </a:lnSpc>
              <a:buNone/>
            </a:pP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马尔科夫预测分析</a:t>
            </a:r>
            <a:endParaRPr lang="zh-CN" altLang="en-US" kern="100" dirty="0"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2470" y="7035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sym typeface="+mn-ea"/>
              </a:rPr>
              <a:t>马尔科夫链仅仅取决于系统的初始状态和状态转移概率，  所以可以用                        对动态系统进行预测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2470" y="138303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sym typeface="+mn-ea"/>
              </a:rPr>
              <a:t>设上期旅客运输市场的占有率向量为</a:t>
            </a:r>
            <a:endParaRPr lang="zh-CN" altLang="en-US" sz="1400" dirty="0">
              <a:sym typeface="+mn-ea"/>
            </a:endParaRPr>
          </a:p>
        </p:txBody>
      </p:sp>
      <p:pic>
        <p:nvPicPr>
          <p:cNvPr id="2058" name="Picture 10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610" y="1383030"/>
            <a:ext cx="2124075" cy="30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430530" y="1647190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304800" algn="just">
              <a:lnSpc>
                <a:spcPct val="150000"/>
              </a:lnSpc>
            </a:pPr>
            <a:r>
              <a:rPr lang="zh-CN" altLang="en-US" sz="1400" dirty="0">
                <a:sym typeface="+mn-ea"/>
              </a:rPr>
              <a:t>则本期旅客运输市场的占有率向量为</a:t>
            </a:r>
            <a:endParaRPr lang="zh-CN" altLang="en-US" sz="1400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7555" y="2061210"/>
            <a:ext cx="3908425" cy="7105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7555" y="283527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sym typeface="+mn-ea"/>
              </a:rPr>
              <a:t>则本期的预测结果为</a:t>
            </a:r>
            <a:endParaRPr lang="zh-CN" altLang="en-US" sz="1400" dirty="0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57555" y="3143250"/>
            <a:ext cx="3036570" cy="13144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57555" y="457771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sym typeface="+mn-ea"/>
              </a:rPr>
              <a:t>从而下一期的预测结果为</a:t>
            </a:r>
            <a:endParaRPr lang="zh-CN" altLang="en-US" sz="1400" dirty="0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7409" y="4925679"/>
            <a:ext cx="2608907" cy="88583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7555" y="597027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sym typeface="+mn-ea"/>
              </a:rPr>
              <a:t>可以得到经过若干时间间隔后系统所处状态的概率</a:t>
            </a:r>
            <a:endParaRPr lang="zh-CN" altLang="en-US" sz="1400" dirty="0">
              <a:sym typeface="+mn-ea"/>
            </a:endParaRPr>
          </a:p>
        </p:txBody>
      </p:sp>
      <p:pic>
        <p:nvPicPr>
          <p:cNvPr id="2062" name="Picture 14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580" y="5912485"/>
            <a:ext cx="1323975" cy="42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5</a:t>
            </a:r>
            <a:endParaRPr dirty="0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443980" y="2162810"/>
            <a:ext cx="5005070" cy="1684020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ym typeface="+mn-ea"/>
              </a:rPr>
              <a:t>    </a:t>
            </a:r>
            <a:r>
              <a:rPr sz="2400" dirty="0">
                <a:sym typeface="+mn-ea"/>
              </a:rPr>
              <a:t>实证分析</a:t>
            </a:r>
            <a:endParaRPr sz="2400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604520" y="403860"/>
            <a:ext cx="1043051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b="0">
                <a:ea typeface="宋体" panose="02010600030101010101" pitchFamily="2" charset="-122"/>
              </a:rPr>
              <a:t>预测我国某省在</a:t>
            </a:r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2011</a:t>
            </a:r>
            <a:r>
              <a:rPr lang="zh-CN" b="0">
                <a:ea typeface="宋体" panose="02010600030101010101" pitchFamily="2" charset="-122"/>
              </a:rPr>
              <a:t>年交通运输市场中各种运输方式的市场占有率。首先，对某</a:t>
            </a:r>
            <a:r>
              <a:rPr lang="en-US" altLang="zh-CN" b="0">
                <a:ea typeface="宋体" panose="02010600030101010101" pitchFamily="2" charset="-122"/>
              </a:rPr>
              <a:t>    </a:t>
            </a:r>
            <a:r>
              <a:rPr lang="zh-CN" b="0">
                <a:ea typeface="宋体" panose="02010600030101010101" pitchFamily="2" charset="-122"/>
              </a:rPr>
              <a:t>省的交通运输市场</a:t>
            </a:r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2009</a:t>
            </a:r>
            <a:r>
              <a:rPr lang="zh-CN" b="0">
                <a:ea typeface="宋体" panose="02010600030101010101" pitchFamily="2" charset="-122"/>
              </a:rPr>
              <a:t>年和</a:t>
            </a:r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2010</a:t>
            </a:r>
            <a:r>
              <a:rPr lang="zh-CN" b="0">
                <a:ea typeface="宋体" panose="02010600030101010101" pitchFamily="2" charset="-122"/>
              </a:rPr>
              <a:t>年各种运输方式的市场占有数量进行统计。资料如表</a:t>
            </a:r>
            <a:r>
              <a:rPr lang="en-US" b="0">
                <a:latin typeface="Times New Roman" panose="02020603050405020304" charset="0"/>
                <a:ea typeface="宋体" panose="02010600030101010101" pitchFamily="2" charset="-122"/>
              </a:rPr>
              <a:t>5-3-1</a:t>
            </a:r>
            <a:r>
              <a:rPr lang="zh-CN" b="0">
                <a:ea typeface="宋体" panose="02010600030101010101" pitchFamily="2" charset="-122"/>
              </a:rPr>
              <a:t>所示。</a:t>
            </a:r>
            <a:endParaRPr lang="zh-CN" altLang="en-US" b="0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310" y="1213485"/>
            <a:ext cx="3824605" cy="37230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28845" y="13544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70C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solidFill>
                  <a:srgbClr val="0070C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、先计算“</a:t>
            </a:r>
            <a:r>
              <a:rPr lang="en-US" altLang="zh-CN" dirty="0">
                <a:solidFill>
                  <a:srgbClr val="0070C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2010</a:t>
            </a:r>
            <a:r>
              <a:rPr lang="zh-CN" altLang="en-US" dirty="0">
                <a:solidFill>
                  <a:srgbClr val="0070C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年总流失数”，得到新列“</a:t>
            </a:r>
            <a:r>
              <a:rPr lang="en-US" altLang="zh-CN" dirty="0" err="1">
                <a:solidFill>
                  <a:srgbClr val="0070C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Total_Loss</a:t>
            </a:r>
            <a:r>
              <a:rPr lang="zh-CN" altLang="en-US" dirty="0">
                <a:solidFill>
                  <a:srgbClr val="0070C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”列</a:t>
            </a:r>
            <a:endParaRPr lang="zh-CN" altLang="en-US" dirty="0">
              <a:solidFill>
                <a:srgbClr val="0070C0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66784" y="1955937"/>
            <a:ext cx="4617638" cy="38935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0530" y="145415"/>
            <a:ext cx="9862185" cy="1156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、先计算保持概率（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P_AA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P_BB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P_CC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P_DD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P_AA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：数字表达式输入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(Pass_2009 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Total_Loss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)/Pass_2009”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，同时点击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，设置条件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Transport=1”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（仅对航空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计算），点击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继续→确定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重复上述操作，分别设置条件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Transport=2”“Transport=3”“Transport=4”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，计算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P_BB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P_CC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P_DD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0530" y="1219835"/>
            <a:ext cx="4269105" cy="1703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9095" y="3193415"/>
            <a:ext cx="6096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、计算转向概率（如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PAB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PAC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PAD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PBA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等，共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个转向概率）：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以计算 “航空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转向铁路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的概率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PAB”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为例：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转换→计算变量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，目标变量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P_AB”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，标签 “航空→铁路概率”；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数字表达式输入 “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Loss_B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/Pass_2009”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条件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Transport=1”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，点击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确定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按相同逻辑，依次计算其他转向概率（如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PAC=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Loss_C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/Pass_2009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PAD=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Loss_D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/Pass_2009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PBA=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Loss_A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/Pass_2009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，条件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Transport=2”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75095" y="319341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整理之后得到转移矩阵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434455" y="3486785"/>
          <a:ext cx="4692650" cy="2362200"/>
        </p:xfrm>
        <a:graphic>
          <a:graphicData uri="http://schemas.openxmlformats.org/drawingml/2006/table">
            <a:tbl>
              <a:tblPr/>
              <a:tblGrid>
                <a:gridCol w="938530"/>
                <a:gridCol w="938530"/>
                <a:gridCol w="938530"/>
                <a:gridCol w="938530"/>
                <a:gridCol w="938530"/>
              </a:tblGrid>
              <a:tr h="685800"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从 </a:t>
                      </a:r>
                      <a:r>
                        <a:rPr lang="en-US" altLang="zh-CN" b="1" dirty="0">
                          <a:solidFill>
                            <a:srgbClr val="000000"/>
                          </a:solidFill>
                          <a:effectLst/>
                        </a:rPr>
                        <a:t>\ </a:t>
                      </a: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到</a:t>
                      </a:r>
                      <a:endParaRPr lang="zh-CN" altLang="en-US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46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4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航空 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A</a:t>
                      </a:r>
                      <a:endParaRPr lang="en-US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E046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5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4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铁路 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  <a:endParaRPr lang="en-US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605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605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4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公路 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endParaRPr lang="en-US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605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4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5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水路 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D</a:t>
                      </a:r>
                      <a:endParaRPr lang="en-US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4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4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4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F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航空 </a:t>
                      </a:r>
                      <a:r>
                        <a:rPr lang="en-US" b="0" dirty="0">
                          <a:effectLst/>
                        </a:rPr>
                        <a:t>A</a:t>
                      </a:r>
                      <a:endParaRPr lang="en-US" b="0" dirty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807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7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A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0.769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007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78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A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0.115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4078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8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A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0.077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8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6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A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0.039</a:t>
                      </a:r>
                      <a:endParaRPr lang="en-US" altLang="zh-CN" b="0" dirty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E0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F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F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铁路 </a:t>
                      </a:r>
                      <a:r>
                        <a:rPr lang="en-US" b="0">
                          <a:effectLst/>
                        </a:rPr>
                        <a:t>B</a:t>
                      </a:r>
                      <a:endParaRPr lang="en-US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00A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A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A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0.029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A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A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A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A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0.871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A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A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A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A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0.079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00A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4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A0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A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0.021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4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004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FE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508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公路 </a:t>
                      </a:r>
                      <a:r>
                        <a:rPr lang="en-US" b="0">
                          <a:effectLst/>
                        </a:rPr>
                        <a:t>C</a:t>
                      </a:r>
                      <a:endParaRPr lang="en-US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40B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B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B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0.005</a:t>
                      </a:r>
                      <a:endParaRPr lang="en-US" altLang="zh-CN" b="0" dirty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B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B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A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C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0.024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40B8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A0BB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A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C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0.964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A0BB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4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A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C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0.007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4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3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508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水路 </a:t>
                      </a:r>
                      <a:r>
                        <a:rPr lang="en-US" b="0" dirty="0">
                          <a:effectLst/>
                        </a:rPr>
                        <a:t>D</a:t>
                      </a:r>
                      <a:endParaRPr lang="en-US" b="0" dirty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BC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C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B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B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0.088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C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C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C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C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0.059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20C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C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C5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C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0.118</a:t>
                      </a:r>
                      <a:endParaRPr lang="en-US" altLang="zh-CN" b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80C9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C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C3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0.735</a:t>
                      </a:r>
                      <a:endParaRPr lang="en-US" altLang="zh-CN" b="0" dirty="0">
                        <a:effectLst/>
                      </a:endParaRPr>
                    </a:p>
                  </a:txBody>
                  <a:tcPr marL="114300" marR="114300" marT="76200" marB="76200" anchor="ctr">
                    <a:lnL w="4229" cap="flat" cmpd="sng" algn="ctr">
                      <a:solidFill>
                        <a:srgbClr val="C04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2041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4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134735" y="5982970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实际计算的航空到水路的概率为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.03846153846154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，因只保留三位小数，且需要满足航空的转移概率和为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，即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0.769+0.115+0.077+0.039=1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，所以取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0.039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81330" y="183515"/>
            <a:ext cx="868807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、计算初始市场占有率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初始市场占有率为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年末各运输方式旅客数占总旅客数的比例，公式为：某运输方式市场占有率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该方式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年末旅客数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 4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种方式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年末旅客总数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年总旅客数：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点击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分析→描述统计→描述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，将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Pass_2010”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选入 “变量”；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点击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选项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，勾选 “总和”，点击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继续→确定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，在输出窗口中查看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Pass_2010”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的总和（案例中为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75600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万人）。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085" y="1866265"/>
            <a:ext cx="8274685" cy="10071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0830" y="2914015"/>
            <a:ext cx="6096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计算各方式市场占有率：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转换→计算变量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，目标变量依次设为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Pi_A_2010”“Pi_B_2010”“Pi_C_2010”“Pi_D_2010”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，标签对应 “航空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占有率” 等；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数字表达式输入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Pass_2010/75600”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75600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为步骤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中得到的总旅客数），并通过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条件分别限定 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Transport=1~4”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计算结果（保留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位小数）：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Pi_A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=0.022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2.2%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Pi_B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=0.119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11.9%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Pi_C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=0.833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83.3%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Pi_D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=0.025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2.5%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），为了保证总和为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Pi_A_2010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取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0.023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即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44525" y="4869180"/>
          <a:ext cx="5219700" cy="23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3124200" imgH="228600" progId="Equation.3">
                  <p:embed/>
                </p:oleObj>
              </mc:Choice>
              <mc:Fallback>
                <p:oleObj name="" r:id="rId4" imgW="31242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4869180"/>
                        <a:ext cx="5219700" cy="2387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90830" y="5257800"/>
            <a:ext cx="9779635" cy="11969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5610" y="187325"/>
            <a:ext cx="753935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、短期市场占有率预测（本部分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SPSS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不太好使，用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来实现）本期占有率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上期占有率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×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一步转移矩阵（矩阵乘法）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4190" y="808990"/>
            <a:ext cx="4241800" cy="27470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34607" y="924317"/>
            <a:ext cx="4342857" cy="21428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5610" y="3742055"/>
            <a:ext cx="89001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先定义初始向量和转移矩阵，与案例一致，然后进行矩阵乘法，把结果保留三位小数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pi_2011 &lt;- t(pi_2010) %*% P  # t(pi_2010)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：将列向量转置为行向量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pi_2011_rounded &lt;- round(pi_2011, 3)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，然后输出结果，航空运输的占有率为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2.8%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，铁路运输的占有率为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12.8%,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公路运输的占有率为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81.7%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，水路运输的占有率为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2.8%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4235" y="5133943"/>
            <a:ext cx="4257143" cy="676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0065" y="281940"/>
            <a:ext cx="83864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同理得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2012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年占有率，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2012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年某省旅客运输市场中，航空运输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的市场占有率为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3.1%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，铁路运输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Ｂ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的市场占有率为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13.6%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，公路运输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(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Ｃ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的市场占有率为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80.3%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，水路运输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Ｄ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的市场占有率为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3.0%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2703" y="954390"/>
            <a:ext cx="4342857" cy="10285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0065" y="2341880"/>
            <a:ext cx="94640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本案例应用马尔科夫分析法对旅客运输的航空运输占有率、铁路运输占有率、公路运输占有率和水路运输占有率进行定量分析，清楚了各种运输方式占有率的发展趋势。市场占有率表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5-3-2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所示。</a:t>
            </a:r>
            <a:endParaRPr lang="zh-CN" altLang="zh-CN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92455" y="3015615"/>
          <a:ext cx="5767705" cy="1897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3160"/>
                <a:gridCol w="1153795"/>
                <a:gridCol w="1153160"/>
                <a:gridCol w="1153795"/>
                <a:gridCol w="1153795"/>
              </a:tblGrid>
              <a:tr h="632460"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航空运输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铁路运输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公路运输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水路运输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632460"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 dirty="0">
                          <a:effectLst/>
                        </a:rPr>
                        <a:t>初始状态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2.3%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11.9%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83.3%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2.5%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632460"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200" kern="100">
                          <a:effectLst/>
                        </a:rPr>
                        <a:t>稳定状态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5.5%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21.0%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69.8%</a:t>
                      </a:r>
                      <a:endParaRPr lang="zh-CN" sz="1200" kern="10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7200"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3.6%</a:t>
                      </a:r>
                      <a:endParaRPr lang="zh-CN" sz="1200" kern="100" dirty="0"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75615" y="5064760"/>
            <a:ext cx="8996045" cy="2902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由表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5-3-2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可以将四种运输方式的市场占有率进行稳定状态和初始状态的对比，可以看出航空、铁路、水路三种运输方式相较于初始状态都有所提升，分别提升了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3.2%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9.1%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，而公路运输下降了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13.5%</a:t>
            </a:r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，说明旅客们出行方式的选择正慢慢趋向于多元化。旅客在选择出行方式时，会考虑多种因素，包括价格、速度、舒适度、安全性等，这些因素都会影响运输企业的竞争力和客户满意度。</a:t>
            </a:r>
            <a:endParaRPr lang="zh-CN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因此，各运输企业要想在旅客运输市场中取得自己应有的份额，决策出更好的营销策略，就必须了解旅客的出行选择行为模式；必须依靠高速度、高技术、高质量的服务去参与竞争，着眼于为旅客提供更适宜的服务，力求更大限度地满足旅客需求。</a:t>
            </a:r>
            <a:endParaRPr lang="zh-CN" altLang="zh-CN" sz="1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/>
        <p:txBody>
          <a:bodyPr/>
          <a:p>
            <a:pPr marL="0" indent="0">
              <a:buNone/>
            </a:pPr>
            <a:r>
              <a:rPr lang="zh-CN" altLang="en-US" b="1"/>
              <a:t>本研究以某省旅客运输市场为对象，通过马尔科夫分析法，系统完成了从数据调研到市场预测的全流程探索。我们先基于2009-2010年旅客流动数据，计算出保持概率与转向概率，构建起一步转移矩阵；再以2010年末市场占有率为初始向量，成功预测出2011-2012年短期市场格局，并推导出长期稳定状态下各运输方式的占有率。结果清晰显示，随着时间推移，旅客出行方式正从以公路为主导，逐步向航空、铁路、水路多元化方向发展——航空、铁路、水路占有率分别提升 3.2%、9.1%、1.1%，公路则下降 13.5%。这一变化既反映了旅客对出行体验（速度、舒适度等）需求的升级，也为运输市场的发展指明了方向。</a:t>
            </a:r>
            <a:endParaRPr lang="zh-CN" altLang="en-US" b="1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</p:nvPr>
        </p:nvSpPr>
        <p:spPr/>
        <p:txBody>
          <a:bodyPr/>
          <a:p>
            <a:r>
              <a:rPr lang="en-US" altLang="zh-CN"/>
              <a:t>                 </a:t>
            </a:r>
            <a:r>
              <a:rPr lang="zh-CN" altLang="en-US"/>
              <a:t>总结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497070" y="2400935"/>
            <a:ext cx="4197985" cy="1028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66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谢谢</a:t>
            </a:r>
            <a:endParaRPr lang="zh-CN" altLang="en-US" sz="66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</p:tagLst>
</file>

<file path=ppt/tags/tag100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10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03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8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PRESET_TEXT" val="单击此处添加文本"/>
  <p:tag name="KSO_WM_UNIT_TEXT_TYPE" val="1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50*458"/>
  <p:tag name="KSO_WM_SLIDE_POSITION" val="54*28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08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1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12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1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18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2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30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  <p:tag name="TABLE_ENDDRAG_ORIGIN_RECT" val="369*181"/>
  <p:tag name="TABLE_ENDDRAG_RECT" val="506*278*369*18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  <p:tag name="TABLE_ENDDRAG_ORIGIN_RECT" val="454*149"/>
  <p:tag name="TABLE_ENDDRAG_RECT" val="51*237*454*149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50.xml><?xml version="1.0" encoding="utf-8"?>
<p:tagLst xmlns:p="http://schemas.openxmlformats.org/presentationml/2006/main">
  <p:tag name="KSO_WPP_MARK_KEY" val="7023136d-9efa-45e3-91bf-b99ccddb9299"/>
  <p:tag name="COMMONDATA" val="eyJjb3VudCI6NDgsImhkaWQiOiJhY2U4MTI1M2JkNDcyNDQ2ZjdiMTRkODUzYWM0ZTY4MiIsInVzZXJDb3VudCI6MX0="/>
  <p:tag name="commondata" val="eyJjb3VudCI6NDksImhkaWQiOiI3OTM5ZGU2MDBmM2RjN2E0MjdkNzdjY2VlNWU3OTJlNSIsInVzZXJDb3VudCI6MX0="/>
</p:tagLst>
</file>

<file path=ppt/theme/theme1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3632</Words>
  <Application>WPS 演示</Application>
  <PresentationFormat>宽屏</PresentationFormat>
  <Paragraphs>236</Paragraphs>
  <Slides>19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MiSans Normal</vt:lpstr>
      <vt:lpstr>Wingdings</vt:lpstr>
      <vt:lpstr>MiSans Heavy</vt:lpstr>
      <vt:lpstr>Times New Roman</vt:lpstr>
      <vt:lpstr>Cambria Math</vt:lpstr>
      <vt:lpstr>MS Mincho</vt:lpstr>
      <vt:lpstr>Segoe Print</vt:lpstr>
      <vt:lpstr>微软雅黑</vt:lpstr>
      <vt:lpstr>Arial Unicode MS</vt:lpstr>
      <vt:lpstr>MiSans Heavy</vt:lpstr>
      <vt:lpstr>MiSans</vt:lpstr>
      <vt:lpstr>MiSans Normal</vt:lpstr>
      <vt:lpstr>Office 主题</vt:lpstr>
      <vt:lpstr>Equation.3</vt:lpstr>
      <vt:lpstr>PowerPoint 演示文稿</vt:lpstr>
      <vt:lpstr>核心问题，研究目标</vt:lpstr>
      <vt:lpstr>PowerPoint 演示文稿</vt:lpstr>
      <vt:lpstr>马尔科夫分析法核心定义</vt:lpstr>
      <vt:lpstr>PowerPoint 演示文稿</vt:lpstr>
      <vt:lpstr>马尔科夫分析法关键概念</vt:lpstr>
      <vt:lpstr>PowerPoint 演示文稿</vt:lpstr>
      <vt:lpstr>PowerPoint 演示文稿</vt:lpstr>
      <vt:lpstr>马尔科夫分析法应用</vt:lpstr>
      <vt:lpstr>PowerPoint 演示文稿</vt:lpstr>
      <vt:lpstr>PowerPoint 演示文稿</vt:lpstr>
      <vt:lpstr>    实证分析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ye子</cp:lastModifiedBy>
  <cp:revision>292</cp:revision>
  <dcterms:created xsi:type="dcterms:W3CDTF">2019-06-19T02:08:00Z</dcterms:created>
  <dcterms:modified xsi:type="dcterms:W3CDTF">2025-10-20T06:56:19Z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3248212A96D54CAC91E04526BAB5734A_11</vt:lpwstr>
  </property>
  <property fmtid="{D5CDD505-2E9C-101B-9397-08002B2CF9AE}" pid="4" name="KSOTemplateUUID">
    <vt:lpwstr>v1.0_mb_WWKVAA3calnmZWOTug9OwQ==</vt:lpwstr>
  </property>
</Properties>
</file>